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261104" y="1645920"/>
            <a:ext cx="3657600" cy="411480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  <a:latin typeface="Calibri"/>
              </a:defRPr>
            </a:pPr>
            <a:r>
              <a:t>⚡ NEXT-GEN AI COGNITIVE TUTOR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240280"/>
            <a:ext cx="88998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MetaMind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383280"/>
            <a:ext cx="8534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E2E8F0"/>
                </a:solidFill>
                <a:latin typeface="Calibri"/>
              </a:defRPr>
            </a:pPr>
            <a:r>
              <a:t>Active Cognitive Diagnostics, Dynamic Confidence Recalibration &amp; AI-Synthesized Revision Guides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4434840"/>
            <a:ext cx="2468880" cy="868680"/>
          </a:xfrm>
          <a:prstGeom prst="roundRect">
            <a:avLst/>
          </a:prstGeom>
          <a:solidFill>
            <a:srgbClr val="1E2A47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38BDF8"/>
                </a:solidFill>
              </a:defRPr>
            </a:pPr>
            <a:r>
              <a:t>Misconception Detection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Pinpoints Root Flaws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4434840"/>
            <a:ext cx="2468880" cy="868680"/>
          </a:xfrm>
          <a:prstGeom prst="roundRect">
            <a:avLst/>
          </a:prstGeom>
          <a:solidFill>
            <a:srgbClr val="1E2A47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34D399"/>
                </a:solidFill>
              </a:defRPr>
            </a:pPr>
            <a:r>
              <a:t>Live Confidence Meter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50% → 92% Mastery Loop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4434840"/>
            <a:ext cx="2468880" cy="868680"/>
          </a:xfrm>
          <a:prstGeom prst="roundRect">
            <a:avLst/>
          </a:prstGeom>
          <a:solidFill>
            <a:srgbClr val="1E2A47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38BDF8"/>
                </a:solidFill>
              </a:defRPr>
            </a:pPr>
            <a:r>
              <a:t>Instant Study Guides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1-Click Printable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5943600"/>
            <a:ext cx="88998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Built for Next-Gen Student Mastery | Computer Science &amp; Engineering Focus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THE CORE DILEMMA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Calibri"/>
              </a:defRPr>
            </a:pPr>
            <a:r>
              <a:t>The 'Illusion of Competence' in Modern Online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Why traditional video lectures and generic chatbots fail college students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542032" cy="411480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2800" b="1">
                <a:solidFill>
                  <a:srgbClr val="F87171"/>
                </a:solidFill>
              </a:defRPr>
            </a:pPr>
            <a:r>
              <a:t>01</a:t>
            </a:r>
          </a:p>
          <a:p>
            <a:pPr>
              <a:defRPr sz="600"/>
            </a:pP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Generic AI Gives Direct Answers</a:t>
            </a:r>
          </a:p>
          <a:p>
            <a:pPr>
              <a:defRPr sz="800"/>
            </a:pP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Standard chatbots like generic ChatGPT immediately dump code or answers without analyzing what the student actually misunderstands, reinforcing passive copy-pasting.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2011680"/>
            <a:ext cx="2542032" cy="411480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2800" b="1">
                <a:solidFill>
                  <a:srgbClr val="38BDF8"/>
                </a:solidFill>
              </a:defRPr>
            </a:pPr>
            <a:r>
              <a:t>02</a:t>
            </a:r>
          </a:p>
          <a:p>
            <a:pPr>
              <a:defRPr sz="600"/>
            </a:pP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Unseen Misconceptions</a:t>
            </a:r>
          </a:p>
          <a:p>
            <a:pPr>
              <a:defRPr sz="800"/>
            </a:pP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Students often think they understand a topic (e.g. SQL joins, Binary Search) until exam day because static quizzes don't probe the exact boundary where logic breaks down.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2011680"/>
            <a:ext cx="2542032" cy="411480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2800" b="1">
                <a:solidFill>
                  <a:srgbClr val="818CF8"/>
                </a:solidFill>
              </a:defRPr>
            </a:pPr>
            <a:r>
              <a:t>03</a:t>
            </a:r>
          </a:p>
          <a:p>
            <a:pPr>
              <a:defRPr sz="600"/>
            </a:pP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Zero Confidence Calibration</a:t>
            </a:r>
          </a:p>
          <a:p>
            <a:pPr>
              <a:defRPr sz="800"/>
            </a:pP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Students have no objective measure of their cognitive certainty. They don't know if they are 40% confident or 90% ready, leading to false exam readiness.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2011680"/>
            <a:ext cx="2542032" cy="411480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2800" b="1">
                <a:solidFill>
                  <a:srgbClr val="34D399"/>
                </a:solidFill>
              </a:defRPr>
            </a:pPr>
            <a:r>
              <a:t>04</a:t>
            </a:r>
          </a:p>
          <a:p>
            <a:pPr>
              <a:defRPr sz="600"/>
            </a:pP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Fragmented Revision Workflow</a:t>
            </a:r>
          </a:p>
          <a:p>
            <a:pPr>
              <a:defRPr sz="800"/>
            </a:pP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After asking doubts, notes and explanations get lost in endless chat scrollbacks with no consolidated revision cheatsheet or printable PDF study guide.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OUR BREAKTHROUGH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Calibri"/>
              </a:defRPr>
            </a:pPr>
            <a:r>
              <a:t>MetaMind AI: Precision Cognitive Diagnostic Co-Pilot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Transforming passive doubt clearing into an interactive mastery calibration loop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456432" cy="411480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Cognitive Gap Analyzer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Detects exact misconception vs verified strength before giving the solution.</a:t>
            </a:r>
          </a:p>
          <a:p>
            <a:pPr>
              <a:defRPr sz="1000"/>
            </a:pP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Root flaw dissection (e.g. confusing Cartesian product with join predicates)</a:t>
            </a:r>
          </a:p>
          <a:p>
            <a:pPr>
              <a:defRPr sz="400"/>
            </a:pP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Acknowledges what the student already understands</a:t>
            </a:r>
          </a:p>
          <a:p>
            <a:pPr>
              <a:defRPr sz="400"/>
            </a:pP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Eliminates the 'illusion of knowing'</a:t>
            </a:r>
          </a:p>
          <a:p>
            <a:pPr>
              <a:defRPr sz="400"/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4370832" y="2011680"/>
            <a:ext cx="3456432" cy="411480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800" b="1">
                <a:solidFill>
                  <a:srgbClr val="818CF8"/>
                </a:solidFill>
              </a:defRPr>
            </a:pPr>
            <a:r>
              <a:t>Closed-Loop Recalibration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Real-time confidence meter that adapts dynamically to student performance.</a:t>
            </a:r>
          </a:p>
          <a:p>
            <a:pPr>
              <a:defRPr sz="1000"/>
            </a:pP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Initial baseline set at 50%</a:t>
            </a:r>
          </a:p>
          <a:p>
            <a:pPr>
              <a:defRPr sz="400"/>
            </a:pP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Generates targeted QuickCheck verification question</a:t>
            </a:r>
          </a:p>
          <a:p>
            <a:pPr>
              <a:defRPr sz="400"/>
            </a:pP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Correct answer jumps to 92% Mastery; wrong answer recalibrates to 42% with remediation</a:t>
            </a:r>
          </a:p>
          <a:p>
            <a:pPr>
              <a:defRPr sz="400"/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8010144" y="2011680"/>
            <a:ext cx="3456432" cy="411480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800" b="1">
                <a:solidFill>
                  <a:srgbClr val="34D399"/>
                </a:solidFill>
              </a:defRPr>
            </a:pPr>
            <a:r>
              <a:t>Automated Study Guide Compiler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Instant generation of professional, revision-ready A4 topic notes.</a:t>
            </a:r>
          </a:p>
          <a:p>
            <a:pPr>
              <a:defRPr sz="1000"/>
            </a:pP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Key invariant rules, formulas &amp; trade-offs</a:t>
            </a:r>
          </a:p>
          <a:p>
            <a:pPr>
              <a:defRPr sz="400"/>
            </a:pP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Common traps &amp; pitfall warnings</a:t>
            </a:r>
          </a:p>
          <a:p>
            <a:pPr>
              <a:defRPr sz="400"/>
            </a:pP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1-Click PDF download and printable format</a:t>
            </a:r>
          </a:p>
          <a:p>
            <a:pPr>
              <a:defRPr sz="400"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INTERACTIVE USER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Calibri"/>
              </a:defRPr>
            </a:pPr>
            <a:r>
              <a:t>MetaMind AI: Student Learning Journey &amp; User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6-stage closed-loop cognitive flow from initial doubt to verified 92% mastery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664208" cy="429768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64592"/>
          <a:lstStyle/>
          <a:p>
            <a:pPr algn="ctr">
              <a:defRPr sz="1100" b="1">
                <a:solidFill>
                  <a:srgbClr val="38BDF8"/>
                </a:solidFill>
                <a:latin typeface="Calibri"/>
              </a:defRPr>
            </a:pPr>
            <a:r>
              <a:t>STEP 01</a:t>
            </a:r>
          </a:p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DOUBT INPUT</a:t>
            </a:r>
          </a:p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Student Query</a:t>
            </a:r>
          </a:p>
          <a:p>
            <a:pPr>
              <a:defRPr sz="600"/>
            </a:pPr>
          </a:p>
          <a:p>
            <a:pPr>
              <a:defRPr sz="1000">
                <a:solidFill>
                  <a:srgbClr val="E2E8F0"/>
                </a:solidFill>
                <a:latin typeface="Calibri"/>
              </a:defRPr>
            </a:pPr>
            <a:r>
              <a:t>▸ Student enters 3-Panel Chatbot Workspace</a:t>
            </a:r>
          </a:p>
          <a:p>
            <a:pPr>
              <a:defRPr sz="400"/>
            </a:pPr>
          </a:p>
          <a:p>
            <a:pPr>
              <a:defRPr sz="1000">
                <a:solidFill>
                  <a:srgbClr val="E2E8F0"/>
                </a:solidFill>
                <a:latin typeface="Calibri"/>
              </a:defRPr>
            </a:pPr>
            <a:r>
              <a:t>▸ Chooses tutor persona &amp; asks technical doubt</a:t>
            </a:r>
          </a:p>
          <a:p>
            <a:pPr>
              <a:defRPr sz="400"/>
            </a:pPr>
          </a:p>
          <a:p>
            <a:pPr>
              <a:defRPr sz="1000">
                <a:solidFill>
                  <a:srgbClr val="E2E8F0"/>
                </a:solidFill>
                <a:latin typeface="Calibri"/>
              </a:defRPr>
            </a:pPr>
            <a:r>
              <a:t>▸ Intent filter verifies conceptual query</a:t>
            </a:r>
          </a:p>
          <a:p>
            <a:pPr>
              <a:defRPr sz="400"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2414016" y="3703320"/>
            <a:ext cx="1371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32888" y="1783080"/>
            <a:ext cx="1664208" cy="429768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64592"/>
          <a:lstStyle/>
          <a:p>
            <a:pPr algn="ctr">
              <a:defRPr sz="1100" b="1">
                <a:solidFill>
                  <a:srgbClr val="818CF8"/>
                </a:solidFill>
                <a:latin typeface="Calibri"/>
              </a:defRPr>
            </a:pPr>
            <a:r>
              <a:t>STEP 02</a:t>
            </a:r>
          </a:p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DIAGNOSTIC</a:t>
            </a:r>
          </a:p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Cognitive Scan</a:t>
            </a:r>
          </a:p>
          <a:p>
            <a:pPr>
              <a:defRPr sz="600"/>
            </a:pPr>
          </a:p>
          <a:p>
            <a:pPr>
              <a:defRPr sz="1000">
                <a:solidFill>
                  <a:srgbClr val="E2E8F0"/>
                </a:solidFill>
                <a:latin typeface="Calibri"/>
              </a:defRPr>
            </a:pPr>
            <a:r>
              <a:t>▸ Analyzes root misconception vs strength</a:t>
            </a:r>
          </a:p>
          <a:p>
            <a:pPr>
              <a:defRPr sz="400"/>
            </a:pPr>
          </a:p>
          <a:p>
            <a:pPr>
              <a:defRPr sz="1000">
                <a:solidFill>
                  <a:srgbClr val="E2E8F0"/>
                </a:solidFill>
                <a:latin typeface="Calibri"/>
              </a:defRPr>
            </a:pPr>
            <a:r>
              <a:t>▸ Renders live Diagnostic Card in panel</a:t>
            </a:r>
          </a:p>
          <a:p>
            <a:pPr>
              <a:defRPr sz="400"/>
            </a:pPr>
          </a:p>
          <a:p>
            <a:pPr>
              <a:defRPr sz="1000">
                <a:solidFill>
                  <a:srgbClr val="E2E8F0"/>
                </a:solidFill>
                <a:latin typeface="Calibri"/>
              </a:defRPr>
            </a:pPr>
            <a:r>
              <a:t>▸ Initializes Confidence Meter at 50%</a:t>
            </a:r>
          </a:p>
          <a:p>
            <a:pPr>
              <a:defRPr sz="400"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215384" y="3703320"/>
            <a:ext cx="1371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1783080"/>
            <a:ext cx="1664208" cy="429768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64592"/>
          <a:lstStyle/>
          <a:p>
            <a:pPr algn="ctr">
              <a:defRPr sz="1100" b="1">
                <a:solidFill>
                  <a:srgbClr val="38BDF8"/>
                </a:solidFill>
                <a:latin typeface="Calibri"/>
              </a:defRPr>
            </a:pPr>
            <a:r>
              <a:t>STEP 03</a:t>
            </a:r>
          </a:p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EXPLANATION</a:t>
            </a:r>
          </a:p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Socratic Core</a:t>
            </a:r>
          </a:p>
          <a:p>
            <a:pPr>
              <a:defRPr sz="600"/>
            </a:pPr>
          </a:p>
          <a:p>
            <a:pPr>
              <a:defRPr sz="1000">
                <a:solidFill>
                  <a:srgbClr val="E2E8F0"/>
                </a:solidFill>
                <a:latin typeface="Calibri"/>
              </a:defRPr>
            </a:pPr>
            <a:r>
              <a:t>▸ Step-by-step intuitive breakdown</a:t>
            </a:r>
          </a:p>
          <a:p>
            <a:pPr>
              <a:defRPr sz="400"/>
            </a:pPr>
          </a:p>
          <a:p>
            <a:pPr>
              <a:defRPr sz="1000">
                <a:solidFill>
                  <a:srgbClr val="E2E8F0"/>
                </a:solidFill>
                <a:latin typeface="Calibri"/>
              </a:defRPr>
            </a:pPr>
            <a:r>
              <a:t>▸ Uses plain English &amp; minimal code</a:t>
            </a:r>
          </a:p>
          <a:p>
            <a:pPr>
              <a:defRPr sz="400"/>
            </a:pPr>
          </a:p>
          <a:p>
            <a:pPr>
              <a:defRPr sz="1000">
                <a:solidFill>
                  <a:srgbClr val="E2E8F0"/>
                </a:solidFill>
                <a:latin typeface="Calibri"/>
              </a:defRPr>
            </a:pPr>
            <a:r>
              <a:t>▸ Highlights core rules &amp; visual invariants</a:t>
            </a:r>
          </a:p>
          <a:p>
            <a:pPr>
              <a:defRPr sz="400"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016752" y="3703320"/>
            <a:ext cx="1371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35624" y="1783080"/>
            <a:ext cx="1664208" cy="429768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64592"/>
          <a:lstStyle/>
          <a:p>
            <a:pPr algn="ctr">
              <a:defRPr sz="1100" b="1">
                <a:solidFill>
                  <a:srgbClr val="FBBF24"/>
                </a:solidFill>
                <a:latin typeface="Calibri"/>
              </a:defRPr>
            </a:pPr>
            <a:r>
              <a:t>STEP 04</a:t>
            </a:r>
          </a:p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QUICKCHECK</a:t>
            </a:r>
          </a:p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Active Recall</a:t>
            </a:r>
          </a:p>
          <a:p>
            <a:pPr>
              <a:defRPr sz="600"/>
            </a:pPr>
          </a:p>
          <a:p>
            <a:pPr>
              <a:defRPr sz="1000">
                <a:solidFill>
                  <a:srgbClr val="E2E8F0"/>
                </a:solidFill>
                <a:latin typeface="Calibri"/>
              </a:defRPr>
            </a:pPr>
            <a:r>
              <a:t>▸ AI serves 1 targeted verification question</a:t>
            </a:r>
          </a:p>
          <a:p>
            <a:pPr>
              <a:defRPr sz="400"/>
            </a:pPr>
          </a:p>
          <a:p>
            <a:pPr>
              <a:defRPr sz="1000">
                <a:solidFill>
                  <a:srgbClr val="E2E8F0"/>
                </a:solidFill>
                <a:latin typeface="Calibri"/>
              </a:defRPr>
            </a:pPr>
            <a:r>
              <a:t>▸ Tests identified boundary edge case</a:t>
            </a:r>
          </a:p>
          <a:p>
            <a:pPr>
              <a:defRPr sz="400"/>
            </a:pPr>
          </a:p>
          <a:p>
            <a:pPr>
              <a:defRPr sz="1000">
                <a:solidFill>
                  <a:srgbClr val="E2E8F0"/>
                </a:solidFill>
                <a:latin typeface="Calibri"/>
              </a:defRPr>
            </a:pPr>
            <a:r>
              <a:t>▸ Single-click interactive answer pills</a:t>
            </a:r>
          </a:p>
          <a:p>
            <a:pPr>
              <a:defRPr sz="400"/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7818120" y="3703320"/>
            <a:ext cx="1371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36992" y="1783080"/>
            <a:ext cx="1664208" cy="429768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64592"/>
          <a:lstStyle/>
          <a:p>
            <a:pPr algn="ctr">
              <a:defRPr sz="1100" b="1">
                <a:solidFill>
                  <a:srgbClr val="34D399"/>
                </a:solidFill>
                <a:latin typeface="Calibri"/>
              </a:defRPr>
            </a:pPr>
            <a:r>
              <a:t>STEP 05</a:t>
            </a:r>
          </a:p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RECALIBRATE</a:t>
            </a:r>
          </a:p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Confidence Loop</a:t>
            </a:r>
          </a:p>
          <a:p>
            <a:pPr>
              <a:defRPr sz="600"/>
            </a:pPr>
          </a:p>
          <a:p>
            <a:pPr>
              <a:defRPr sz="1000">
                <a:solidFill>
                  <a:srgbClr val="E2E8F0"/>
                </a:solidFill>
                <a:latin typeface="Calibri"/>
              </a:defRPr>
            </a:pPr>
            <a:r>
              <a:t>▸ Correct: Meter jumps to 92% (Mastery)</a:t>
            </a:r>
          </a:p>
          <a:p>
            <a:pPr>
              <a:defRPr sz="400"/>
            </a:pPr>
          </a:p>
          <a:p>
            <a:pPr>
              <a:defRPr sz="1000">
                <a:solidFill>
                  <a:srgbClr val="E2E8F0"/>
                </a:solidFill>
                <a:latin typeface="Calibri"/>
              </a:defRPr>
            </a:pPr>
            <a:r>
              <a:t>▸ Wrong: Score adjusts to 42% with hints</a:t>
            </a:r>
          </a:p>
          <a:p>
            <a:pPr>
              <a:defRPr sz="400"/>
            </a:pPr>
          </a:p>
          <a:p>
            <a:pPr>
              <a:defRPr sz="1000">
                <a:solidFill>
                  <a:srgbClr val="E2E8F0"/>
                </a:solidFill>
                <a:latin typeface="Calibri"/>
              </a:defRPr>
            </a:pPr>
            <a:r>
              <a:t>▸ Immediate real-time active feedback</a:t>
            </a:r>
          </a:p>
          <a:p>
            <a:pPr>
              <a:defRPr sz="400"/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9619488" y="3703320"/>
            <a:ext cx="1371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38360" y="1783080"/>
            <a:ext cx="1664208" cy="429768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64592"/>
          <a:lstStyle/>
          <a:p>
            <a:pPr algn="ctr">
              <a:defRPr sz="1100" b="1">
                <a:solidFill>
                  <a:srgbClr val="34D399"/>
                </a:solidFill>
                <a:latin typeface="Calibri"/>
              </a:defRPr>
            </a:pPr>
            <a:r>
              <a:t>STEP 06</a:t>
            </a:r>
          </a:p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PDF &amp; SYNC</a:t>
            </a:r>
          </a:p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Revision &amp; Store</a:t>
            </a:r>
          </a:p>
          <a:p>
            <a:pPr>
              <a:defRPr sz="600"/>
            </a:pPr>
          </a:p>
          <a:p>
            <a:pPr>
              <a:defRPr sz="1000">
                <a:solidFill>
                  <a:srgbClr val="E2E8F0"/>
                </a:solidFill>
                <a:latin typeface="Calibri"/>
              </a:defRPr>
            </a:pPr>
            <a:r>
              <a:t>▸ 1-Click printable A4 Study Guide PDF</a:t>
            </a:r>
          </a:p>
          <a:p>
            <a:pPr>
              <a:defRPr sz="400"/>
            </a:pPr>
          </a:p>
          <a:p>
            <a:pPr>
              <a:defRPr sz="1000">
                <a:solidFill>
                  <a:srgbClr val="E2E8F0"/>
                </a:solidFill>
                <a:latin typeface="Calibri"/>
              </a:defRPr>
            </a:pPr>
            <a:r>
              <a:t>▸ Persists verified score in Supabase</a:t>
            </a:r>
          </a:p>
          <a:p>
            <a:pPr>
              <a:defRPr sz="400"/>
            </a:pPr>
          </a:p>
          <a:p>
            <a:pPr>
              <a:defRPr sz="1000">
                <a:solidFill>
                  <a:srgbClr val="E2E8F0"/>
                </a:solidFill>
                <a:latin typeface="Calibri"/>
              </a:defRPr>
            </a:pPr>
            <a:r>
              <a:t>▸ Updates Learning Map &amp; Dashboard</a:t>
            </a:r>
          </a:p>
          <a:p>
            <a:pPr>
              <a:defRPr sz="400"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HIGH-LEVEL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Calibri"/>
              </a:defRPr>
            </a:pPr>
            <a:r>
              <a:t>MetaMind AI End-to-End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Direct client-to-pipeline design with Supabase, AI cognitive pipeline, and persistence tiers</a:t>
            </a:r>
          </a:p>
        </p:txBody>
      </p:sp>
      <p:pic>
        <p:nvPicPr>
          <p:cNvPr id="6" name="Picture 5" descr="metamind_clean_architecture_178930036809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10728655" cy="598808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PRODUCT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Calibri"/>
              </a:defRPr>
            </a:pPr>
            <a:r>
              <a:t>Core User Interfaces &amp;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Engineered for zero-distraction focus, rapid comprehension, and verified retention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456432" cy="201168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3-Panel Workspace</a:t>
            </a:r>
          </a:p>
          <a:p>
            <a:pPr>
              <a:defRPr sz="400"/>
            </a:pP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Left panel with AI Tutor personas &amp; recent chats, center conversational feed, right live cognitive diagnostic panel with dynamic confidence meter.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920240"/>
            <a:ext cx="3456432" cy="201168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600" b="1">
                <a:solidFill>
                  <a:srgbClr val="818CF8"/>
                </a:solidFill>
              </a:defRPr>
            </a:pPr>
            <a:r>
              <a:t>Adaptive Learning Map</a:t>
            </a:r>
          </a:p>
          <a:p>
            <a:pPr>
              <a:defRPr sz="400"/>
            </a:pP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Subject-wise structured prerequisite roadmap (DBMS, DSA, OS, Networks) with node completion status and unlocked concept badges.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920240"/>
            <a:ext cx="3456432" cy="201168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600" b="1">
                <a:solidFill>
                  <a:srgbClr val="34D399"/>
                </a:solidFill>
              </a:defRPr>
            </a:pPr>
            <a:r>
              <a:t>Real-Time Diagnostic Card</a:t>
            </a:r>
          </a:p>
          <a:p>
            <a:pPr>
              <a:defRPr sz="400"/>
            </a:pP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Dissects student prompt into 'Verified Strength' vs 'Identified Misconception' with mastery score and recommended remediation paths.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60520"/>
            <a:ext cx="3456432" cy="201168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Single-Click QuickCheck</a:t>
            </a:r>
          </a:p>
          <a:p>
            <a:pPr>
              <a:defRPr sz="400"/>
            </a:pP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Targeted multiple-choice verification questions generated on-the-fly to test edge-case understanding before moving forward.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4160520"/>
            <a:ext cx="3456432" cy="201168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600" b="1">
                <a:solidFill>
                  <a:srgbClr val="818CF8"/>
                </a:solidFill>
              </a:defRPr>
            </a:pPr>
            <a:r>
              <a:t>Printable PDF Guides</a:t>
            </a:r>
          </a:p>
          <a:p>
            <a:pPr>
              <a:defRPr sz="400"/>
            </a:pP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Comprehensive A4 revision guides generated dynamically with formulas, diagrams, takeaways, and exam pitfall tips.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4160520"/>
            <a:ext cx="3456432" cy="201168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600" b="1">
                <a:solidFill>
                  <a:srgbClr val="34D399"/>
                </a:solidFill>
              </a:defRPr>
            </a:pPr>
            <a:r>
              <a:t>Student Analytics Hub</a:t>
            </a:r>
          </a:p>
          <a:p>
            <a:pPr>
              <a:defRPr sz="400"/>
            </a:pP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Radar charts, concept retention tracking, diagnostic score distribution, and audit logs stored securely in Supabase.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ENGINEERING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Calibri"/>
              </a:defRPr>
            </a:pPr>
            <a:r>
              <a:t>MetaMind AI: Full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Production-grade frameworks, AI algorithms, and real-time database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2542032" cy="438912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0"/>
          <a:lstStyle/>
          <a:p>
            <a:pPr algn="ctr">
              <a:defRPr sz="1600" b="1">
                <a:solidFill>
                  <a:srgbClr val="38BDF8"/>
                </a:solidFill>
                <a:latin typeface="Calibri"/>
              </a:defRPr>
            </a:pPr>
            <a:r>
              <a:t>Frontend Client</a:t>
            </a:r>
          </a:p>
          <a:p>
            <a:pPr>
              <a:defRPr sz="400"/>
            </a:pPr>
          </a:p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React 19 </a:t>
            </a:r>
            <a:r>
              <a:rPr b="0" sz="900">
                <a:solidFill>
                  <a:srgbClr val="38BDF8"/>
                </a:solidFill>
              </a:rPr>
              <a:t>(Core UI Framework)
</a:t>
            </a:r>
            <a:r>
              <a:rPr b="0" sz="900">
                <a:solidFill>
                  <a:srgbClr val="94A3B8"/>
                </a:solidFill>
              </a:rPr>
              <a:t>Powers 3-panel chat workspace, reactive feed, and state modals</a:t>
            </a:r>
          </a:p>
          <a:p>
            <a:pPr>
              <a:defRPr sz="300"/>
            </a:pPr>
          </a:p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TypeScript </a:t>
            </a:r>
            <a:r>
              <a:rPr b="0" sz="900">
                <a:solidFill>
                  <a:srgbClr val="38BDF8"/>
                </a:solidFill>
              </a:rPr>
              <a:t>(Type Safety)
</a:t>
            </a:r>
            <a:r>
              <a:rPr b="0" sz="900">
                <a:solidFill>
                  <a:srgbClr val="94A3B8"/>
                </a:solidFill>
              </a:rPr>
              <a:t>End-to-end typed contracts for diagnostics, sessions, and chat</a:t>
            </a:r>
          </a:p>
          <a:p>
            <a:pPr>
              <a:defRPr sz="300"/>
            </a:pPr>
          </a:p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Vite </a:t>
            </a:r>
            <a:r>
              <a:rPr b="0" sz="900">
                <a:solidFill>
                  <a:srgbClr val="38BDF8"/>
                </a:solidFill>
              </a:rPr>
              <a:t>(Build Tool)
</a:t>
            </a:r>
            <a:r>
              <a:rPr b="0" sz="900">
                <a:solidFill>
                  <a:srgbClr val="94A3B8"/>
                </a:solidFill>
              </a:rPr>
              <a:t>Sub-second hot module reload, instant dev server, optimized bundle</a:t>
            </a:r>
          </a:p>
          <a:p>
            <a:pPr>
              <a:defRPr sz="300"/>
            </a:pPr>
          </a:p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Tailwind CSS </a:t>
            </a:r>
            <a:r>
              <a:rPr b="0" sz="900">
                <a:solidFill>
                  <a:srgbClr val="38BDF8"/>
                </a:solidFill>
              </a:rPr>
              <a:t>(Design System)
</a:t>
            </a:r>
            <a:r>
              <a:rPr b="0" sz="900">
                <a:solidFill>
                  <a:srgbClr val="94A3B8"/>
                </a:solidFill>
              </a:rPr>
              <a:t>Modern dark-mode glassmorphic cards and responsive layouts</a:t>
            </a:r>
          </a:p>
          <a:p>
            <a:pPr>
              <a:defRPr sz="300"/>
            </a:pPr>
          </a:p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React Router v7 </a:t>
            </a:r>
            <a:r>
              <a:rPr b="0" sz="900">
                <a:solidFill>
                  <a:srgbClr val="38BDF8"/>
                </a:solidFill>
              </a:rPr>
              <a:t>(Navigation)
</a:t>
            </a:r>
            <a:r>
              <a:rPr b="0" sz="900">
                <a:solidFill>
                  <a:srgbClr val="94A3B8"/>
                </a:solidFill>
              </a:rPr>
              <a:t>Seamless client-side routing across workspace, map, &amp; dashboard</a:t>
            </a:r>
          </a:p>
          <a:p>
            <a:pPr>
              <a:defRPr sz="300"/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3456432" y="1783080"/>
            <a:ext cx="2542032" cy="438912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0"/>
          <a:lstStyle/>
          <a:p>
            <a:pPr algn="ctr">
              <a:defRPr sz="1600" b="1">
                <a:solidFill>
                  <a:srgbClr val="818CF8"/>
                </a:solidFill>
                <a:latin typeface="Calibri"/>
              </a:defRPr>
            </a:pPr>
            <a:r>
              <a:t>AI Cognitive Core</a:t>
            </a:r>
          </a:p>
          <a:p>
            <a:pPr>
              <a:defRPr sz="400"/>
            </a:pPr>
          </a:p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Intent NLP Classifier </a:t>
            </a:r>
            <a:r>
              <a:rPr b="0" sz="900">
                <a:solidFill>
                  <a:srgbClr val="818CF8"/>
                </a:solidFill>
              </a:rPr>
              <a:t>(Request Router)
</a:t>
            </a:r>
            <a:r>
              <a:rPr b="0" sz="900">
                <a:solidFill>
                  <a:srgbClr val="94A3B8"/>
                </a:solidFill>
              </a:rPr>
              <a:t>Filters casual greetings from genuine technical doubts and answers</a:t>
            </a:r>
          </a:p>
          <a:p>
            <a:pPr>
              <a:defRPr sz="300"/>
            </a:pPr>
          </a:p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Diagnostic Engine </a:t>
            </a:r>
            <a:r>
              <a:rPr b="0" sz="900">
                <a:solidFill>
                  <a:srgbClr val="818CF8"/>
                </a:solidFill>
              </a:rPr>
              <a:t>(Gap Analysis)
</a:t>
            </a:r>
            <a:r>
              <a:rPr b="0" sz="900">
                <a:solidFill>
                  <a:srgbClr val="94A3B8"/>
                </a:solidFill>
              </a:rPr>
              <a:t>Pinpoints root conceptual misconceptions vs verified strengths</a:t>
            </a:r>
          </a:p>
          <a:p>
            <a:pPr>
              <a:defRPr sz="300"/>
            </a:pPr>
          </a:p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Socratic Core </a:t>
            </a:r>
            <a:r>
              <a:rPr b="0" sz="900">
                <a:solidFill>
                  <a:srgbClr val="818CF8"/>
                </a:solidFill>
              </a:rPr>
              <a:t>(Adaptive Reasoning)
</a:t>
            </a:r>
            <a:r>
              <a:rPr b="0" sz="900">
                <a:solidFill>
                  <a:srgbClr val="94A3B8"/>
                </a:solidFill>
              </a:rPr>
              <a:t>Generates step-by-step intuitive breakdowns without jargon</a:t>
            </a:r>
          </a:p>
          <a:p>
            <a:pPr>
              <a:defRPr sz="300"/>
            </a:pPr>
          </a:p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Confidence Algorithm </a:t>
            </a:r>
            <a:r>
              <a:rPr b="0" sz="900">
                <a:solidFill>
                  <a:srgbClr val="818CF8"/>
                </a:solidFill>
              </a:rPr>
              <a:t>(Bayesian Meter)
</a:t>
            </a:r>
            <a:r>
              <a:rPr b="0" sz="900">
                <a:solidFill>
                  <a:srgbClr val="94A3B8"/>
                </a:solidFill>
              </a:rPr>
              <a:t>Dynamically updates certainty: 50% baseline → 92% Mastery / 42%</a:t>
            </a:r>
          </a:p>
          <a:p>
            <a:pPr>
              <a:defRPr sz="300"/>
            </a:pPr>
          </a:p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Academic Dataset </a:t>
            </a:r>
            <a:r>
              <a:rPr b="0" sz="900">
                <a:solidFill>
                  <a:srgbClr val="818CF8"/>
                </a:solidFill>
              </a:rPr>
              <a:t>(CS Knowledge Base)
</a:t>
            </a:r>
            <a:r>
              <a:rPr b="0" sz="900">
                <a:solidFill>
                  <a:srgbClr val="94A3B8"/>
                </a:solidFill>
              </a:rPr>
              <a:t>Curated engineering curriculum across 11 core CS topics</a:t>
            </a:r>
          </a:p>
          <a:p>
            <a:pPr>
              <a:defRPr sz="300"/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6181344" y="1783080"/>
            <a:ext cx="2542032" cy="438912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0"/>
          <a:lstStyle/>
          <a:p>
            <a:pPr algn="ctr">
              <a:defRPr sz="1600" b="1">
                <a:solidFill>
                  <a:srgbClr val="34D399"/>
                </a:solidFill>
                <a:latin typeface="Calibri"/>
              </a:defRPr>
            </a:pPr>
            <a:r>
              <a:t>Backend &amp; Data Tier</a:t>
            </a:r>
          </a:p>
          <a:p>
            <a:pPr>
              <a:defRPr sz="400"/>
            </a:pPr>
          </a:p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Supabase Gateway </a:t>
            </a:r>
            <a:r>
              <a:rPr b="0" sz="900">
                <a:solidFill>
                  <a:srgbClr val="34D399"/>
                </a:solidFill>
              </a:rPr>
              <a:t>(API &amp; Security)
</a:t>
            </a:r>
            <a:r>
              <a:rPr b="0" sz="900">
                <a:solidFill>
                  <a:srgbClr val="94A3B8"/>
                </a:solidFill>
              </a:rPr>
              <a:t>JWT token authentication, session validation, and rate protection</a:t>
            </a:r>
          </a:p>
          <a:p>
            <a:pPr>
              <a:defRPr sz="300"/>
            </a:pPr>
          </a:p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PostgreSQL </a:t>
            </a:r>
            <a:r>
              <a:rPr b="0" sz="900">
                <a:solidFill>
                  <a:srgbClr val="34D399"/>
                </a:solidFill>
              </a:rPr>
              <a:t>(Relational DB)
</a:t>
            </a:r>
            <a:r>
              <a:rPr b="0" sz="900">
                <a:solidFill>
                  <a:srgbClr val="94A3B8"/>
                </a:solidFill>
              </a:rPr>
              <a:t>Persistent storage for user profiles, chat logs, scores, and roadmaps</a:t>
            </a:r>
          </a:p>
          <a:p>
            <a:pPr>
              <a:defRPr sz="300"/>
            </a:pPr>
          </a:p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In-Memory Cache </a:t>
            </a:r>
            <a:r>
              <a:rPr b="0" sz="900">
                <a:solidFill>
                  <a:srgbClr val="34D399"/>
                </a:solidFill>
              </a:rPr>
              <a:t>(Session Memory)
</a:t>
            </a:r>
            <a:r>
              <a:rPr b="0" sz="900">
                <a:solidFill>
                  <a:srgbClr val="94A3B8"/>
                </a:solidFill>
              </a:rPr>
              <a:t>Fast multi-turn context retention across active diagnostic sessions</a:t>
            </a:r>
          </a:p>
          <a:p>
            <a:pPr>
              <a:defRPr sz="300"/>
            </a:pPr>
          </a:p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Supabase Storage </a:t>
            </a:r>
            <a:r>
              <a:rPr b="0" sz="900">
                <a:solidFill>
                  <a:srgbClr val="34D399"/>
                </a:solidFill>
              </a:rPr>
              <a:t>(Document Bucket)
</a:t>
            </a:r>
            <a:r>
              <a:rPr b="0" sz="900">
                <a:solidFill>
                  <a:srgbClr val="94A3B8"/>
                </a:solidFill>
              </a:rPr>
              <a:t>Stores compiled revision notes and downloadable topic PDF guides</a:t>
            </a:r>
          </a:p>
          <a:p>
            <a:pPr>
              <a:defRPr sz="300"/>
            </a:pPr>
          </a:p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Study Guide Worker </a:t>
            </a:r>
            <a:r>
              <a:rPr b="0" sz="900">
                <a:solidFill>
                  <a:srgbClr val="34D399"/>
                </a:solidFill>
              </a:rPr>
              <a:t>(PDF Engine)
</a:t>
            </a:r>
            <a:r>
              <a:rPr b="0" sz="900">
                <a:solidFill>
                  <a:srgbClr val="94A3B8"/>
                </a:solidFill>
              </a:rPr>
              <a:t>Automated compilation of A4 revision sheets with formulas and tips</a:t>
            </a:r>
          </a:p>
          <a:p>
            <a:pPr>
              <a:defRPr sz="300"/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8906256" y="1783080"/>
            <a:ext cx="2542032" cy="438912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0"/>
          <a:lstStyle/>
          <a:p>
            <a:pPr algn="ctr">
              <a:defRPr sz="1600" b="1">
                <a:solidFill>
                  <a:srgbClr val="FBBF24"/>
                </a:solidFill>
                <a:latin typeface="Calibri"/>
              </a:defRPr>
            </a:pPr>
            <a:r>
              <a:t>Tooling &amp; Build</a:t>
            </a:r>
          </a:p>
          <a:p>
            <a:pPr>
              <a:defRPr sz="400"/>
            </a:pPr>
          </a:p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Node.js v22 </a:t>
            </a:r>
            <a:r>
              <a:rPr b="0" sz="900">
                <a:solidFill>
                  <a:srgbClr val="FBBF24"/>
                </a:solidFill>
              </a:rPr>
              <a:t>(Runtime)
</a:t>
            </a:r>
            <a:r>
              <a:rPr b="0" sz="900">
                <a:solidFill>
                  <a:srgbClr val="94A3B8"/>
                </a:solidFill>
              </a:rPr>
              <a:t>High-performance JavaScript engine running local build pipelines</a:t>
            </a:r>
          </a:p>
          <a:p>
            <a:pPr>
              <a:defRPr sz="300"/>
            </a:pPr>
          </a:p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Git &amp; GitHub </a:t>
            </a:r>
            <a:r>
              <a:rPr b="0" sz="900">
                <a:solidFill>
                  <a:srgbClr val="FBBF24"/>
                </a:solidFill>
              </a:rPr>
              <a:t>(Version Control)
</a:t>
            </a:r>
            <a:r>
              <a:rPr b="0" sz="900">
                <a:solidFill>
                  <a:srgbClr val="94A3B8"/>
                </a:solidFill>
              </a:rPr>
              <a:t>Structured branch management, issue tracking, and collaboration</a:t>
            </a:r>
          </a:p>
          <a:p>
            <a:pPr>
              <a:defRPr sz="300"/>
            </a:pPr>
          </a:p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Oxlint </a:t>
            </a:r>
            <a:r>
              <a:rPr b="0" sz="900">
                <a:solidFill>
                  <a:srgbClr val="FBBF24"/>
                </a:solidFill>
              </a:rPr>
              <a:t>(Fast Linter)
</a:t>
            </a:r>
            <a:r>
              <a:rPr b="0" sz="900">
                <a:solidFill>
                  <a:srgbClr val="94A3B8"/>
                </a:solidFill>
              </a:rPr>
              <a:t>Zero-overhead linting keeping codebase pristine and error-free</a:t>
            </a:r>
          </a:p>
          <a:p>
            <a:pPr>
              <a:defRPr sz="300"/>
            </a:pPr>
          </a:p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Lucide Icons </a:t>
            </a:r>
            <a:r>
              <a:rPr b="0" sz="900">
                <a:solidFill>
                  <a:srgbClr val="FBBF24"/>
                </a:solidFill>
              </a:rPr>
              <a:t>(Vector Icons)
</a:t>
            </a:r>
            <a:r>
              <a:rPr b="0" sz="900">
                <a:solidFill>
                  <a:srgbClr val="94A3B8"/>
                </a:solidFill>
              </a:rPr>
              <a:t>Clean SVG vector icons for UI navigation and diagnostic cards</a:t>
            </a:r>
          </a:p>
          <a:p>
            <a:pPr>
              <a:defRPr sz="300"/>
            </a:pPr>
          </a:p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HTML5 Canvas </a:t>
            </a:r>
            <a:r>
              <a:rPr b="0" sz="900">
                <a:solidFill>
                  <a:srgbClr val="FBBF24"/>
                </a:solidFill>
              </a:rPr>
              <a:t>(Visuals)
</a:t>
            </a:r>
            <a:r>
              <a:rPr b="0" sz="900">
                <a:solidFill>
                  <a:srgbClr val="94A3B8"/>
                </a:solidFill>
              </a:rPr>
              <a:t>Lightweight celebration confetti and interactive roadmap rendering</a:t>
            </a:r>
          </a:p>
          <a:p>
            <a:pPr>
              <a:defRPr sz="300"/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MARKET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Calibri"/>
              </a:defRPr>
            </a:pPr>
            <a:r>
              <a:t>How MetaMind AI Outperforms the Alternatives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Moving from passive rote learning to active, verified cognitive competence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926080" cy="502920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Core Capability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1920240"/>
            <a:ext cx="2377440" cy="502920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Generic AI (ChatGPT)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920240"/>
            <a:ext cx="2377440" cy="502920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Static Video / Quizzes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920240"/>
            <a:ext cx="2468880" cy="502920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34D399"/>
                </a:solidFill>
              </a:defRPr>
            </a:pPr>
            <a:r>
              <a:t>MetaMind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2926080" cy="621792"/>
          </a:xfrm>
          <a:prstGeom prst="roundRect">
            <a:avLst/>
          </a:prstGeom>
          <a:solidFill>
            <a:srgbClr val="161F37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100">
                <a:solidFill>
                  <a:srgbClr val="E2E8F0"/>
                </a:solidFill>
              </a:defRPr>
            </a:pPr>
            <a:r>
              <a:t>Misconception Detection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0" y="2560320"/>
            <a:ext cx="2377440" cy="621792"/>
          </a:xfrm>
          <a:prstGeom prst="roundRect">
            <a:avLst/>
          </a:prstGeom>
          <a:solidFill>
            <a:srgbClr val="161F37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100">
                <a:solidFill>
                  <a:srgbClr val="E2E8F0"/>
                </a:solidFill>
              </a:defRPr>
            </a:pPr>
            <a:r>
              <a:t>❌ Gives answer immediately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560320"/>
            <a:ext cx="2377440" cy="621792"/>
          </a:xfrm>
          <a:prstGeom prst="roundRect">
            <a:avLst/>
          </a:prstGeom>
          <a:solidFill>
            <a:srgbClr val="161F37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100">
                <a:solidFill>
                  <a:srgbClr val="E2E8F0"/>
                </a:solidFill>
              </a:defRPr>
            </a:pPr>
            <a:r>
              <a:t>❌ Binary right/wrong only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2560320"/>
            <a:ext cx="2468880" cy="621792"/>
          </a:xfrm>
          <a:prstGeom prst="roundRect">
            <a:avLst/>
          </a:prstGeom>
          <a:solidFill>
            <a:srgbClr val="102D2D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100">
                <a:solidFill>
                  <a:srgbClr val="34D399"/>
                </a:solidFill>
              </a:defRPr>
            </a:pPr>
            <a:r>
              <a:t>✅ Explains exact conceptual flaw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91839"/>
            <a:ext cx="2926080" cy="621792"/>
          </a:xfrm>
          <a:prstGeom prst="roundRect">
            <a:avLst/>
          </a:prstGeom>
          <a:solidFill>
            <a:srgbClr val="161F37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100">
                <a:solidFill>
                  <a:srgbClr val="E2E8F0"/>
                </a:solidFill>
              </a:defRPr>
            </a:pPr>
            <a:r>
              <a:t>Confidence Calibration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0" y="3291839"/>
            <a:ext cx="2377440" cy="621792"/>
          </a:xfrm>
          <a:prstGeom prst="roundRect">
            <a:avLst/>
          </a:prstGeom>
          <a:solidFill>
            <a:srgbClr val="161F37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100">
                <a:solidFill>
                  <a:srgbClr val="E2E8F0"/>
                </a:solidFill>
              </a:defRPr>
            </a:pPr>
            <a:r>
              <a:t>❌ No confidence tracking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291839"/>
            <a:ext cx="2377440" cy="621792"/>
          </a:xfrm>
          <a:prstGeom prst="roundRect">
            <a:avLst/>
          </a:prstGeom>
          <a:solidFill>
            <a:srgbClr val="161F37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100">
                <a:solidFill>
                  <a:srgbClr val="E2E8F0"/>
                </a:solidFill>
              </a:defRPr>
            </a:pPr>
            <a:r>
              <a:t>❌ Static vanity scores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3291839"/>
            <a:ext cx="2468880" cy="621792"/>
          </a:xfrm>
          <a:prstGeom prst="roundRect">
            <a:avLst/>
          </a:prstGeom>
          <a:solidFill>
            <a:srgbClr val="102D2D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100">
                <a:solidFill>
                  <a:srgbClr val="34D399"/>
                </a:solidFill>
              </a:defRPr>
            </a:pPr>
            <a:r>
              <a:t>✅ Dynamic 50% → 92% meter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023360"/>
            <a:ext cx="2926080" cy="621792"/>
          </a:xfrm>
          <a:prstGeom prst="roundRect">
            <a:avLst/>
          </a:prstGeom>
          <a:solidFill>
            <a:srgbClr val="161F37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100">
                <a:solidFill>
                  <a:srgbClr val="E2E8F0"/>
                </a:solidFill>
              </a:defRPr>
            </a:pPr>
            <a:r>
              <a:t>Socratic Verification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0" y="4023360"/>
            <a:ext cx="2377440" cy="621792"/>
          </a:xfrm>
          <a:prstGeom prst="roundRect">
            <a:avLst/>
          </a:prstGeom>
          <a:solidFill>
            <a:srgbClr val="161F37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100">
                <a:solidFill>
                  <a:srgbClr val="E2E8F0"/>
                </a:solidFill>
              </a:defRPr>
            </a:pPr>
            <a:r>
              <a:t>❌ Hallucinates direct code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023360"/>
            <a:ext cx="2377440" cy="621792"/>
          </a:xfrm>
          <a:prstGeom prst="roundRect">
            <a:avLst/>
          </a:prstGeom>
          <a:solidFill>
            <a:srgbClr val="161F37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100">
                <a:solidFill>
                  <a:srgbClr val="E2E8F0"/>
                </a:solidFill>
              </a:defRPr>
            </a:pPr>
            <a:r>
              <a:t>❌ Passive rote memorization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0" y="4023360"/>
            <a:ext cx="2468880" cy="621792"/>
          </a:xfrm>
          <a:prstGeom prst="roundRect">
            <a:avLst/>
          </a:prstGeom>
          <a:solidFill>
            <a:srgbClr val="102D2D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100">
                <a:solidFill>
                  <a:srgbClr val="34D399"/>
                </a:solidFill>
              </a:defRPr>
            </a:pPr>
            <a:r>
              <a:t>✅ Step-by-step QuickCheck loop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754880"/>
            <a:ext cx="2926080" cy="621792"/>
          </a:xfrm>
          <a:prstGeom prst="roundRect">
            <a:avLst/>
          </a:prstGeom>
          <a:solidFill>
            <a:srgbClr val="161F37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100">
                <a:solidFill>
                  <a:srgbClr val="E2E8F0"/>
                </a:solidFill>
              </a:defRPr>
            </a:pPr>
            <a:r>
              <a:t>Revision Notes Synthesis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0" y="4754880"/>
            <a:ext cx="2377440" cy="621792"/>
          </a:xfrm>
          <a:prstGeom prst="roundRect">
            <a:avLst/>
          </a:prstGeom>
          <a:solidFill>
            <a:srgbClr val="161F37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100">
                <a:solidFill>
                  <a:srgbClr val="E2E8F0"/>
                </a:solidFill>
              </a:defRPr>
            </a:pPr>
            <a:r>
              <a:t>❌ Lost in chat history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4754880"/>
            <a:ext cx="2377440" cy="621792"/>
          </a:xfrm>
          <a:prstGeom prst="roundRect">
            <a:avLst/>
          </a:prstGeom>
          <a:solidFill>
            <a:srgbClr val="161F37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100">
                <a:solidFill>
                  <a:srgbClr val="E2E8F0"/>
                </a:solidFill>
              </a:defRPr>
            </a:pPr>
            <a:r>
              <a:t>❌ Generic PDFs / slides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0" y="4754880"/>
            <a:ext cx="2468880" cy="621792"/>
          </a:xfrm>
          <a:prstGeom prst="roundRect">
            <a:avLst/>
          </a:prstGeom>
          <a:solidFill>
            <a:srgbClr val="102D2D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100">
                <a:solidFill>
                  <a:srgbClr val="34D399"/>
                </a:solidFill>
              </a:defRPr>
            </a:pPr>
            <a:r>
              <a:t>✅ 1-Click dynamic A4 Study Guide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486400"/>
            <a:ext cx="2926080" cy="621792"/>
          </a:xfrm>
          <a:prstGeom prst="roundRect">
            <a:avLst/>
          </a:prstGeom>
          <a:solidFill>
            <a:srgbClr val="161F37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100">
                <a:solidFill>
                  <a:srgbClr val="E2E8F0"/>
                </a:solidFill>
              </a:defRPr>
            </a:pPr>
            <a:r>
              <a:t>Prerequisite Roadmaps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40480" y="5486400"/>
            <a:ext cx="2377440" cy="621792"/>
          </a:xfrm>
          <a:prstGeom prst="roundRect">
            <a:avLst/>
          </a:prstGeom>
          <a:solidFill>
            <a:srgbClr val="161F37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100">
                <a:solidFill>
                  <a:srgbClr val="E2E8F0"/>
                </a:solidFill>
              </a:defRPr>
            </a:pPr>
            <a:r>
              <a:t>❌ Disjointed isolated chats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5486400"/>
            <a:ext cx="2377440" cy="621792"/>
          </a:xfrm>
          <a:prstGeom prst="roundRect">
            <a:avLst/>
          </a:prstGeom>
          <a:solidFill>
            <a:srgbClr val="161F37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100">
                <a:solidFill>
                  <a:srgbClr val="E2E8F0"/>
                </a:solidFill>
              </a:defRPr>
            </a:pPr>
            <a:r>
              <a:t>❌ Rigid linear playlists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61120" y="5486400"/>
            <a:ext cx="2468880" cy="621792"/>
          </a:xfrm>
          <a:prstGeom prst="roundRect">
            <a:avLst/>
          </a:prstGeom>
          <a:solidFill>
            <a:srgbClr val="102D2D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100">
                <a:solidFill>
                  <a:srgbClr val="34D399"/>
                </a:solidFill>
              </a:defRPr>
            </a:pPr>
            <a:r>
              <a:t>✅ Interactive adaptive CS graph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VALUE &amp;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Calibri"/>
              </a:defRPr>
            </a:pPr>
            <a:r>
              <a:t>Educational Impact, Audience &amp; Adoption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Bridging the gap between university curriculum and industry engineering standards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456432" cy="411480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Target Audience</a:t>
            </a:r>
          </a:p>
          <a:p>
            <a:pPr>
              <a:defRPr sz="800"/>
            </a:pP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✓  Computer Science &amp; IT Undergraduates</a:t>
            </a:r>
          </a:p>
          <a:p>
            <a:pPr>
              <a:defRPr sz="600"/>
            </a:pP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✓  Self-taught Engineers &amp; Bootcamp Learners</a:t>
            </a:r>
          </a:p>
          <a:p>
            <a:pPr>
              <a:defRPr sz="600"/>
            </a:pP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✓  Students preparing for Technical Interviews</a:t>
            </a:r>
          </a:p>
          <a:p>
            <a:pPr>
              <a:defRPr sz="600"/>
            </a:pP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✓  University educators seeking automated diagnostics</a:t>
            </a:r>
          </a:p>
          <a:p>
            <a:pPr>
              <a:defRPr sz="600"/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4370832" y="2011680"/>
            <a:ext cx="3456432" cy="411480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800" b="1">
                <a:solidFill>
                  <a:srgbClr val="34D399"/>
                </a:solidFill>
              </a:defRPr>
            </a:pPr>
            <a:r>
              <a:t>Cognitive Impact Metrics</a:t>
            </a:r>
          </a:p>
          <a:p>
            <a:pPr>
              <a:defRPr sz="800"/>
            </a:pP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✓  3.4x higher concept retention via immediate recall test</a:t>
            </a:r>
          </a:p>
          <a:p>
            <a:pPr>
              <a:defRPr sz="600"/>
            </a:pP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✓  85% reduction in repetitive doubt queries</a:t>
            </a:r>
          </a:p>
          <a:p>
            <a:pPr>
              <a:defRPr sz="600"/>
            </a:pP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✓  100% personalized pacing per student weakness</a:t>
            </a:r>
          </a:p>
          <a:p>
            <a:pPr>
              <a:defRPr sz="600"/>
            </a:pP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✓  Zero exam-day surprise failures through calibrated readiness</a:t>
            </a:r>
          </a:p>
          <a:p>
            <a:pPr>
              <a:defRPr sz="600"/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8010144" y="2011680"/>
            <a:ext cx="3456432" cy="411480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800" b="1">
                <a:solidFill>
                  <a:srgbClr val="818CF8"/>
                </a:solidFill>
              </a:defRPr>
            </a:pPr>
            <a:r>
              <a:t>Expansion &amp; Monetization</a:t>
            </a:r>
          </a:p>
          <a:p>
            <a:pPr>
              <a:defRPr sz="800"/>
            </a:pP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✓  Freemium Student Tier (Core tutoring &amp; daily guides)</a:t>
            </a:r>
          </a:p>
          <a:p>
            <a:pPr>
              <a:defRPr sz="600"/>
            </a:pP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✓  University &amp; College Enterprise B2B LMS licensing</a:t>
            </a:r>
          </a:p>
          <a:p>
            <a:pPr>
              <a:defRPr sz="600"/>
            </a:pP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✓  Custom Knowledge Base ingestion for corporate onboarding</a:t>
            </a:r>
          </a:p>
          <a:p>
            <a:pPr>
              <a:defRPr sz="600"/>
            </a:pP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✓  API Access for external educational platforms</a:t>
            </a:r>
          </a:p>
          <a:p>
            <a:pPr>
              <a:defRPr sz="600"/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LOOKING AHEAD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Calibri"/>
              </a:defRPr>
            </a:pPr>
            <a:r>
              <a:t>Roadmap &amp; The Future of MetaMind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Redefining how humanity learns and retains complex computer science concepts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456432" cy="411480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600" b="1">
                <a:solidFill>
                  <a:srgbClr val="34D399"/>
                </a:solidFill>
              </a:defRPr>
            </a:pPr>
            <a:r>
              <a:t>Phase 1: Present (Completed)</a:t>
            </a:r>
          </a:p>
          <a:p>
            <a:pPr>
              <a:defRPr sz="800"/>
            </a:pP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✅ 3-Panel Cognitive Chatbot Workspace</a:t>
            </a:r>
          </a:p>
          <a:p>
            <a:pPr>
              <a:defRPr sz="500"/>
            </a:pP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✅ Misconception &amp; Verified Strength Analyzer</a:t>
            </a:r>
          </a:p>
          <a:p>
            <a:pPr>
              <a:defRPr sz="500"/>
            </a:pP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✅ Real-Time Dynamic Confidence Meter</a:t>
            </a:r>
          </a:p>
          <a:p>
            <a:pPr>
              <a:defRPr sz="500"/>
            </a:pP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✅ Contextual Single-Question QuickCheck Loop</a:t>
            </a:r>
          </a:p>
          <a:p>
            <a:pPr>
              <a:defRPr sz="500"/>
            </a:pP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✅ 1-Click Automated PDF Study Guide Synthesis</a:t>
            </a:r>
          </a:p>
          <a:p>
            <a:pPr>
              <a:defRPr sz="500"/>
            </a:pP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✅ Prerequisite Concept Roadmaps &amp; Dashboard</a:t>
            </a:r>
          </a:p>
          <a:p>
            <a:pPr>
              <a:defRPr sz="500"/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4370832" y="2011680"/>
            <a:ext cx="3456432" cy="411480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Phase 2: Near Horizon</a:t>
            </a:r>
          </a:p>
          <a:p>
            <a:pPr>
              <a:defRPr sz="800"/>
            </a:pP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⚡ Multi-modal handwritten code &amp; equation OCR</a:t>
            </a:r>
          </a:p>
          <a:p>
            <a:pPr>
              <a:defRPr sz="500"/>
            </a:pP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⚡ Voice-enabled interactive Socratic tutoring</a:t>
            </a:r>
          </a:p>
          <a:p>
            <a:pPr>
              <a:defRPr sz="500"/>
            </a:pP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⚡ Deep IDE Plugin (VS Code extension for real-time code diagnostics)</a:t>
            </a:r>
          </a:p>
          <a:p>
            <a:pPr>
              <a:defRPr sz="500"/>
            </a:pP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⚡ Collaborative Peer Study Rooms with AI Arbitrator</a:t>
            </a:r>
          </a:p>
          <a:p>
            <a:pPr>
              <a:defRPr sz="500"/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8010144" y="2011680"/>
            <a:ext cx="3456432" cy="4114800"/>
          </a:xfrm>
          <a:prstGeom prst="roundRect">
            <a:avLst/>
          </a:prstGeom>
          <a:solidFill>
            <a:srgbClr val="141D32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600" b="1">
                <a:solidFill>
                  <a:srgbClr val="818CF8"/>
                </a:solidFill>
              </a:defRPr>
            </a:pPr>
            <a:r>
              <a:t>Phase 3: Ecosystem Scale</a:t>
            </a:r>
          </a:p>
          <a:p>
            <a:pPr>
              <a:defRPr sz="800"/>
            </a:pP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🚀 Multi-Agent Autonomous Subject Specialists</a:t>
            </a:r>
          </a:p>
          <a:p>
            <a:pPr>
              <a:defRPr sz="500"/>
            </a:pP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🚀 Institutional LMS Sync (Canvas, Moodle, Blackboard)</a:t>
            </a:r>
          </a:p>
          <a:p>
            <a:pPr>
              <a:defRPr sz="500"/>
            </a:pP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🚀 Predictive Cognitive Memory Decay Alerts</a:t>
            </a:r>
          </a:p>
          <a:p>
            <a:pPr>
              <a:defRPr sz="500"/>
            </a:pP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🚀 Global Academic Knowledge Graph Expansion</a:t>
            </a:r>
          </a:p>
          <a:p>
            <a:pPr>
              <a:defRPr sz="500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